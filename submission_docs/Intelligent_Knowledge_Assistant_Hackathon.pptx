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2" r:id="rId4"/>
    <p:sldId id="261" r:id="rId5"/>
    <p:sldId id="257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5"/>
    <p:restoredTop sz="94639"/>
  </p:normalViewPr>
  <p:slideViewPr>
    <p:cSldViewPr snapToGrid="0" snapToObjects="1">
      <p:cViewPr varScale="1">
        <p:scale>
          <a:sx n="152" d="100"/>
          <a:sy n="152" d="100"/>
        </p:scale>
        <p:origin x="1536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4368E-8E76-E94C-B086-709AA2084948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8D8EA-59A3-FD4E-A17C-58AC17DF5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5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8D8EA-59A3-FD4E-A17C-58AC17DF5B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26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6E85-DDB3-61CB-F902-B6312BE4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DB763-FF46-DAA9-3CC5-E63FB821E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0E092-5298-FB90-A099-8F008ED4B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4A556-6266-7594-8283-6BF175B9A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8D8EA-59A3-FD4E-A17C-58AC17DF5B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1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8D8EA-59A3-FD4E-A17C-58AC17DF5B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9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62FE"/>
                </a:solidFill>
              </a:defRPr>
            </a:pPr>
            <a:r>
              <a:rPr dirty="0"/>
              <a:t>A Critical Productivity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141516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1616"/>
                </a:solidFill>
              </a:defRPr>
            </a:pPr>
            <a:r>
              <a:rPr dirty="0"/>
              <a:t>Knowledge Silos Challenge: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Critical knowledge confined to senior team members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Information fragmented across disconnected systems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Teams blocked for hours/days waiting for answers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Single points of failure when key personnel</a:t>
            </a:r>
            <a:r>
              <a:rPr lang="en-US" dirty="0"/>
              <a:t> is</a:t>
            </a:r>
            <a:r>
              <a:rPr dirty="0"/>
              <a:t> unavailable</a:t>
            </a:r>
          </a:p>
          <a:p>
            <a:pPr>
              <a:spcAft>
                <a:spcPts val="400"/>
              </a:spcAft>
              <a:defRPr>
                <a:solidFill>
                  <a:srgbClr val="161616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300" b="1">
                <a:solidFill>
                  <a:srgbClr val="161616"/>
                </a:solidFill>
              </a:defRPr>
            </a:pPr>
            <a:r>
              <a:rPr dirty="0"/>
              <a:t>Real-World Scenarios: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CI/CD pipeline fails → No troubleshooting guide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Authentication service ownership unclear → Incident delayed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API documentation location unknown → Development blocked</a:t>
            </a:r>
          </a:p>
          <a:p>
            <a:pPr>
              <a:spcAft>
                <a:spcPts val="400"/>
              </a:spcAft>
              <a:defRPr>
                <a:solidFill>
                  <a:srgbClr val="161616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300" b="1">
                <a:solidFill>
                  <a:srgbClr val="161616"/>
                </a:solidFill>
              </a:defRPr>
            </a:pPr>
            <a:r>
              <a:rPr dirty="0"/>
              <a:t>C</a:t>
            </a:r>
            <a:r>
              <a:rPr lang="en-US" dirty="0"/>
              <a:t>hallenges Faced</a:t>
            </a:r>
            <a:r>
              <a:rPr dirty="0"/>
              <a:t>: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Countless hours lost in productivity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Amplified in remote/distributed teams</a:t>
            </a:r>
          </a:p>
          <a:p>
            <a:pPr marL="628650" lvl="1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61616"/>
                </a:solidFill>
              </a:defRPr>
            </a:pPr>
            <a:r>
              <a:rPr dirty="0"/>
              <a:t>Knowledge loss during team transitions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8589-C7D0-EB69-0B5E-3D3978BC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6DCD0D-FF01-7B56-DC86-E7C508DA0AA4}"/>
              </a:ext>
            </a:extLst>
          </p:cNvPr>
          <p:cNvSpPr txBox="1"/>
          <p:nvPr/>
        </p:nvSpPr>
        <p:spPr>
          <a:xfrm>
            <a:off x="796954" y="662729"/>
            <a:ext cx="7633982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Slide 1: Problem Statement / Abstract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Intelligent Knowledge Assistant for Engineering Teams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The Problem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Knowledge is scattered across multiple sources: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GitHub repositories, Terraform modules, runbooks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Chat conversations, Box notes, internal wikis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Strong dependency on Subject Matter Experts (SMEs)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Slow incident resolution, especially during off-hours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Onboarding new team members takes weeks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Critical institutional knowledge is often lost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Our Solution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AI-powered intelligent assistant that: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Aggregates multi-source data into a unified knowledge base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Enables natural language querying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Provides contextual, accurate, and visual responses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Key Use Cases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Debug CI/CD pipeline failures instantly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Understand system architecture with diagrams and explanations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Provide personalized onboarding guidance</a:t>
            </a:r>
          </a:p>
        </p:txBody>
      </p:sp>
    </p:spTree>
    <p:extLst>
      <p:ext uri="{BB962C8B-B14F-4D97-AF65-F5344CB8AC3E}">
        <p14:creationId xmlns:p14="http://schemas.microsoft.com/office/powerpoint/2010/main" val="116185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ECDC3C-A0A3-27BD-B461-27F391291596}"/>
              </a:ext>
            </a:extLst>
          </p:cNvPr>
          <p:cNvSpPr txBox="1"/>
          <p:nvPr/>
        </p:nvSpPr>
        <p:spPr>
          <a:xfrm>
            <a:off x="2286000" y="-3278432"/>
            <a:ext cx="4572000" cy="1341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Slide 2: How We Used Bob (Our Learnings)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Building with Bob: Multi-Source Intelligence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Architecture Flow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Sources → MCP Servers → Bob → </a:t>
            </a:r>
            <a:r>
              <a:rPr lang="en-IN" dirty="0" err="1">
                <a:effectLst/>
                <a:latin typeface="Monaco" pitchFamily="2" charset="77"/>
              </a:rPr>
              <a:t>ChromaDB</a:t>
            </a:r>
            <a:r>
              <a:rPr lang="en-IN" dirty="0">
                <a:effectLst/>
                <a:latin typeface="Monaco" pitchFamily="2" charset="77"/>
              </a:rPr>
              <a:t> → Intelligent Responses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Integrations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Git MCP Server: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Extracts code and repository-level insights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Terraform IBM Modules MCP Server: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Provides infrastructure and configuration context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Box Notes: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Ingested into </a:t>
            </a:r>
            <a:r>
              <a:rPr lang="en-IN" dirty="0" err="1">
                <a:effectLst/>
                <a:latin typeface="Monaco" pitchFamily="2" charset="77"/>
              </a:rPr>
              <a:t>ChromaDB</a:t>
            </a:r>
            <a:r>
              <a:rPr lang="en-IN" dirty="0">
                <a:effectLst/>
                <a:latin typeface="Monaco" pitchFamily="2" charset="77"/>
              </a:rPr>
              <a:t> for semantic search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What We Built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Unified query interface across all sources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Context-aware retrieval using embeddings (</a:t>
            </a:r>
            <a:r>
              <a:rPr lang="en-IN" dirty="0" err="1">
                <a:effectLst/>
                <a:latin typeface="Monaco" pitchFamily="2" charset="77"/>
              </a:rPr>
              <a:t>ChromaDB</a:t>
            </a:r>
            <a:r>
              <a:rPr lang="en-IN" dirty="0">
                <a:effectLst/>
                <a:latin typeface="Monaco" pitchFamily="2" charset="77"/>
              </a:rPr>
              <a:t>)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Intelligent response generation combining: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Code + Documentation + Infrastructure + Notes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Key Learnings from Bob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Enabled agent-based orchestration across multiple tools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Simplified integration of heterogeneous data sources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Eliminated need for complex custom orchestration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Delivered contextual answers instead of keyword-based search</a:t>
            </a:r>
          </a:p>
        </p:txBody>
      </p:sp>
    </p:spTree>
    <p:extLst>
      <p:ext uri="{BB962C8B-B14F-4D97-AF65-F5344CB8AC3E}">
        <p14:creationId xmlns:p14="http://schemas.microsoft.com/office/powerpoint/2010/main" val="165160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E9C4D-3DB0-CA97-16DB-550960672705}"/>
              </a:ext>
            </a:extLst>
          </p:cNvPr>
          <p:cNvSpPr txBox="1"/>
          <p:nvPr/>
        </p:nvSpPr>
        <p:spPr>
          <a:xfrm>
            <a:off x="2286000" y="-2555157"/>
            <a:ext cx="4572000" cy="1197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Slide 3: Outcomes &amp; Impact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Measurable Impact &amp; Transformation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Before vs After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Knowledge retrieval: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Before: 30–60 minutes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After: Seconds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Incident resolution: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Before: Hours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After: Minutes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Onboarding: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Before: Weeks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After: Days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• Dependency on SMEs: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Before: High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After: Significantly reduced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Business Impact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Increased team productivity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Faster development and delivery cycles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Improved system reliability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Democratized access to knowledge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Final Vision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An intelligent team member that: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Is always available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Never forgets knowledge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Continuously learns and improves</a:t>
            </a:r>
          </a:p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IN" dirty="0">
                <a:effectLst/>
                <a:latin typeface="Monaco" pitchFamily="2" charset="77"/>
              </a:rPr>
              <a:t>Ensures no question goes unanswered</a:t>
            </a:r>
          </a:p>
        </p:txBody>
      </p:sp>
    </p:spTree>
    <p:extLst>
      <p:ext uri="{BB962C8B-B14F-4D97-AF65-F5344CB8AC3E}">
        <p14:creationId xmlns:p14="http://schemas.microsoft.com/office/powerpoint/2010/main" val="337486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62FE"/>
                </a:solidFill>
              </a:defRPr>
            </a:pPr>
            <a:r>
              <a:rPr dirty="0"/>
              <a:t>Building an Intelligent Knowledge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3310" y="984607"/>
            <a:ext cx="3049398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61616"/>
                </a:solidFill>
              </a:defRPr>
            </a:pPr>
            <a:r>
              <a:rPr lang="en-IN" sz="1300" b="1" dirty="0">
                <a:solidFill>
                  <a:srgbClr val="161616"/>
                </a:solidFill>
              </a:rPr>
              <a:t>MCP Integration Architecture</a:t>
            </a:r>
            <a:r>
              <a:rPr lang="en-IN" sz="1300" dirty="0">
                <a:solidFill>
                  <a:srgbClr val="161616"/>
                </a:solidFill>
              </a:rPr>
              <a:t>:</a:t>
            </a:r>
            <a:endParaRPr sz="1300" dirty="0"/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/>
              <a:t>•</a:t>
            </a:r>
            <a:r>
              <a:rPr sz="1200" dirty="0">
                <a:solidFill>
                  <a:srgbClr val="161616"/>
                </a:solidFill>
              </a:rPr>
              <a:t> </a:t>
            </a:r>
            <a:r>
              <a:rPr lang="en-IN" sz="1200" dirty="0">
                <a:solidFill>
                  <a:srgbClr val="161616"/>
                </a:solidFill>
              </a:rPr>
              <a:t>Bob communicates via MCP Protocol Layer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>
                <a:solidFill>
                  <a:srgbClr val="161616"/>
                </a:solidFill>
              </a:rPr>
              <a:t>• </a:t>
            </a:r>
            <a:r>
              <a:rPr lang="en-IN" sz="1200" dirty="0">
                <a:solidFill>
                  <a:srgbClr val="161616"/>
                </a:solidFill>
              </a:rPr>
              <a:t>Enables integration with multiple specialized servers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>
                <a:solidFill>
                  <a:srgbClr val="161616"/>
                </a:solidFill>
              </a:rPr>
              <a:t>•</a:t>
            </a:r>
            <a:r>
              <a:rPr lang="en-IN" sz="1200" dirty="0">
                <a:solidFill>
                  <a:srgbClr val="161616"/>
                </a:solidFill>
              </a:rPr>
              <a:t> Unified interface for diverse tools and data sources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161616"/>
                </a:solidFill>
              </a:defRPr>
            </a:pPr>
            <a:r>
              <a:rPr lang="en-IN" sz="1300" b="1" dirty="0">
                <a:solidFill>
                  <a:srgbClr val="161616"/>
                </a:solidFill>
              </a:rPr>
              <a:t>Intelligent Search Strategy </a:t>
            </a:r>
            <a:r>
              <a:rPr sz="1300" b="1" dirty="0">
                <a:solidFill>
                  <a:srgbClr val="161616"/>
                </a:solidFill>
              </a:rPr>
              <a:t>: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/>
              <a:t>• </a:t>
            </a:r>
            <a:r>
              <a:rPr lang="en-IN" sz="1200" dirty="0">
                <a:solidFill>
                  <a:srgbClr val="161616"/>
                </a:solidFill>
              </a:rPr>
              <a:t>Defined priorities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>
                <a:solidFill>
                  <a:srgbClr val="161616"/>
                </a:solidFill>
              </a:rPr>
              <a:t>•</a:t>
            </a:r>
            <a:endParaRPr lang="en-IN" sz="1200" dirty="0">
              <a:solidFill>
                <a:srgbClr val="161616"/>
              </a:solidFill>
            </a:endParaRP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>
                <a:solidFill>
                  <a:srgbClr val="161616"/>
                </a:solidFill>
              </a:rPr>
              <a:t>• </a:t>
            </a:r>
            <a:r>
              <a:rPr lang="en-IN" sz="1200" dirty="0">
                <a:solidFill>
                  <a:srgbClr val="161616"/>
                </a:solidFill>
              </a:rPr>
              <a:t>Optimizes for both speed and coverage</a:t>
            </a:r>
          </a:p>
          <a:p>
            <a:pPr>
              <a:spcAft>
                <a:spcPts val="400"/>
              </a:spcAft>
              <a:defRPr>
                <a:solidFill>
                  <a:srgbClr val="161616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100">
                <a:solidFill>
                  <a:srgbClr val="161616"/>
                </a:solidFill>
              </a:defRPr>
            </a:pPr>
            <a:r>
              <a:rPr lang="en-IN" sz="1300" b="1" dirty="0">
                <a:solidFill>
                  <a:srgbClr val="161616"/>
                </a:solidFill>
              </a:rPr>
              <a:t>Other Learnings</a:t>
            </a:r>
            <a:r>
              <a:rPr sz="1300" b="1" dirty="0">
                <a:solidFill>
                  <a:srgbClr val="161616"/>
                </a:solidFill>
              </a:rPr>
              <a:t>: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000" dirty="0">
                <a:solidFill>
                  <a:srgbClr val="161616"/>
                </a:solidFill>
              </a:rPr>
              <a:t>• </a:t>
            </a:r>
            <a:r>
              <a:rPr lang="en-IN" sz="1200" dirty="0">
                <a:solidFill>
                  <a:srgbClr val="161616"/>
                </a:solidFill>
              </a:rPr>
              <a:t>Modularity, Extensibility, Scalability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>
                <a:solidFill>
                  <a:srgbClr val="161616"/>
                </a:solidFill>
              </a:rPr>
              <a:t>• </a:t>
            </a:r>
            <a:r>
              <a:rPr lang="en-IN" sz="1200" dirty="0">
                <a:solidFill>
                  <a:srgbClr val="161616"/>
                </a:solidFill>
              </a:rPr>
              <a:t>Source traceability and transparency</a:t>
            </a:r>
          </a:p>
          <a:p>
            <a:pPr lvl="1">
              <a:spcAft>
                <a:spcPts val="400"/>
              </a:spcAft>
              <a:defRPr sz="1000">
                <a:solidFill>
                  <a:srgbClr val="161616"/>
                </a:solidFill>
              </a:defRPr>
            </a:pPr>
            <a:r>
              <a:rPr sz="1200" dirty="0">
                <a:solidFill>
                  <a:srgbClr val="161616"/>
                </a:solidFill>
              </a:rPr>
              <a:t>• </a:t>
            </a:r>
            <a:r>
              <a:rPr lang="en-IN" sz="1200" dirty="0">
                <a:solidFill>
                  <a:srgbClr val="161616"/>
                </a:solidFill>
              </a:rPr>
              <a:t>Mix of external packages and custom servers</a:t>
            </a:r>
          </a:p>
        </p:txBody>
      </p:sp>
      <p:pic>
        <p:nvPicPr>
          <p:cNvPr id="7" name="Picture 6" descr="Screenshot at Apr 08 20-09-38.png">
            <a:extLst>
              <a:ext uri="{FF2B5EF4-FFF2-40B4-BE49-F238E27FC236}">
                <a16:creationId xmlns:a16="http://schemas.microsoft.com/office/drawing/2014/main" id="{783E78DE-87CF-A729-03D4-BA2EA8719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281" y="984607"/>
            <a:ext cx="4691519" cy="488878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5486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FFFF"/>
                </a:solidFill>
              </a:rPr>
              <a:t>An intelligent team member that’s always available, never forgets, and continuously improves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35654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62FE"/>
                </a:solidFill>
              </a:defRPr>
            </a:pPr>
            <a:r>
              <a:rPr sz="3200" b="1" dirty="0">
                <a:solidFill>
                  <a:srgbClr val="0F62FE"/>
                </a:solidFill>
              </a:rPr>
              <a:t>Outcomes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8143" y="895944"/>
            <a:ext cx="498725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0994C"/>
                </a:solidFill>
              </a:rPr>
              <a:t>Measurable Transformation
</a:t>
            </a:r>
          </a:p>
          <a:p>
            <a:r>
              <a:rPr sz="1400" dirty="0"/>
              <a:t>• Knowledge Retrieval: 30</a:t>
            </a:r>
            <a:r>
              <a:rPr lang="en-US" sz="1400" dirty="0"/>
              <a:t> to </a:t>
            </a:r>
            <a:r>
              <a:rPr sz="1400" dirty="0"/>
              <a:t>60 mins → Seconds</a:t>
            </a:r>
          </a:p>
          <a:p>
            <a:r>
              <a:rPr sz="1400" dirty="0"/>
              <a:t>• Incident Resolution: Hours → Minutes</a:t>
            </a:r>
          </a:p>
          <a:p>
            <a:r>
              <a:rPr sz="1400" dirty="0"/>
              <a:t>• Onboarding Time: Weeks → Days</a:t>
            </a:r>
          </a:p>
          <a:p>
            <a:r>
              <a:rPr sz="1400" dirty="0"/>
              <a:t>• SME Dependency: High → Significantly Reduced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4738" y="3026141"/>
            <a:ext cx="487232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0994C"/>
                </a:solidFill>
              </a:rPr>
              <a:t>Business Impact
</a:t>
            </a:r>
          </a:p>
          <a:p>
            <a:r>
              <a:rPr sz="1400" dirty="0"/>
              <a:t>• Increased team productivity and efficiency</a:t>
            </a:r>
          </a:p>
          <a:p>
            <a:r>
              <a:rPr sz="1400" dirty="0"/>
              <a:t>• Faster development and delivery cycles</a:t>
            </a:r>
          </a:p>
          <a:p>
            <a:r>
              <a:rPr sz="1400" dirty="0"/>
              <a:t>• Improved system reliability and response time</a:t>
            </a:r>
          </a:p>
          <a:p>
            <a:r>
              <a:rPr sz="1400" dirty="0"/>
              <a:t>• Democratized access to knowledge across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143" y="4387254"/>
            <a:ext cx="414164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0994C"/>
                </a:solidFill>
              </a:rPr>
              <a:t>Final Vision
</a:t>
            </a:r>
          </a:p>
          <a:p>
            <a:r>
              <a:rPr sz="1400" dirty="0"/>
              <a:t>• Always available</a:t>
            </a:r>
          </a:p>
          <a:p>
            <a:r>
              <a:rPr sz="1400" dirty="0"/>
              <a:t>• Never forgets knowledge</a:t>
            </a:r>
          </a:p>
          <a:p>
            <a:r>
              <a:rPr sz="1400" dirty="0"/>
              <a:t>• Continuously learns and improves</a:t>
            </a:r>
          </a:p>
          <a:p>
            <a:r>
              <a:rPr sz="1400" dirty="0"/>
              <a:t>• Ensures no question goes unanswered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595</Words>
  <Application>Microsoft Macintosh PowerPoint</Application>
  <PresentationFormat>On-screen Show (4:3)</PresentationFormat>
  <Paragraphs>117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Kumar</cp:lastModifiedBy>
  <cp:revision>3</cp:revision>
  <dcterms:created xsi:type="dcterms:W3CDTF">2013-01-27T09:14:16Z</dcterms:created>
  <dcterms:modified xsi:type="dcterms:W3CDTF">2026-04-08T15:48:08Z</dcterms:modified>
  <cp:category/>
</cp:coreProperties>
</file>